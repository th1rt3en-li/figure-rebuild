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ee5a71dea04e7d" /><Relationship Type="http://schemas.openxmlformats.org/officeDocument/2006/relationships/extended-properties" Target="/docProps/app.xml" Id="R52d5bd46cc43444b" /><Relationship Type="http://schemas.openxmlformats.org/officeDocument/2006/relationships/officeDocument" Target="/ppt/presentation.xml" Id="Rf5196318215f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2877a9182b471a"/>
  </p:sldMasterIdLst>
  <p:notesMasterIdLst>
    <p:notesMasterId xmlns:r="http://schemas.openxmlformats.org/officeDocument/2006/relationships" r:id="R017878e2cc594610"/>
  </p:notesMasterIdLst>
  <p:sldIdLst>
    <p:sldId xmlns:r="http://schemas.openxmlformats.org/officeDocument/2006/relationships" id="256" r:id="R1a9de44f547d47b0"/>
  </p:sldIdLst>
  <p:sldSz cx="14363700" cy="5600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4e7fa04a4941dc" /><Relationship Type="http://schemas.openxmlformats.org/officeDocument/2006/relationships/slideMaster" Target="/ppt/slideMasters/slideMaster1.xml" Id="R4e2877a9182b471a" /><Relationship Type="http://schemas.openxmlformats.org/officeDocument/2006/relationships/notesMaster" Target="/ppt/notesMasters/notesMaster1.xml" Id="R017878e2cc594610" /><Relationship Type="http://schemas.openxmlformats.org/officeDocument/2006/relationships/presProps" Target="/ppt/presProps.xml" Id="Rd406cc3621764732" /><Relationship Type="http://schemas.openxmlformats.org/officeDocument/2006/relationships/tableStyles" Target="/ppt/tableStyles.xml" Id="Rccae4ce5d75e4557" /><Relationship Type="http://schemas.openxmlformats.org/officeDocument/2006/relationships/slide" Target="/ppt/slides/slide1.xml" Id="R1a9de44f547d47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4dc156a991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80ded4520c4793" /><Relationship Type="http://schemas.openxmlformats.org/officeDocument/2006/relationships/notesMaster" Target="/ppt/notesMasters/notesMaster1.xml" Id="Rd0c9a2727eaf43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sources/authored.svg</a:t>
            </a:r>
          </a:p>
          <a:p xmlns:a="http://schemas.openxmlformats.org/drawingml/2006/main">
            <a:r>
              <a:t>Classification: generated_diagram. Original SHA256: fbeb7f6c0c80d81906be0107d4c3fa3dfa1b8209d720f781f5f143a4c16f85de. Recognition: calling_host. Original figure authored from the saved brief and explicit graph; review scientific meaning and actual preview.</a:t>
            </a:r>
          </a:p>
          <a:p xmlns:a="http://schemas.openxmlformats.org/drawingml/2006/main">
            <a:r>
              <a:t>Native paths: 24; live text boxes: 12; embedded image assets: 0. Glyph outlines, when present, are paths and are not live text. Original raster panels remain raster. Live text uses configured families: Arial. This reconstruction does not add new experimental evidence. Visual acceptance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871b86ad34d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8878e58ff445d1" /><Relationship Type="http://schemas.openxmlformats.org/officeDocument/2006/relationships/slideLayout" Target="/ppt/slideLayouts/slideLayout1.xml" Id="Rd73ab030234046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3ab030234046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0033c22984612" /><Relationship Type="http://schemas.openxmlformats.org/officeDocument/2006/relationships/notesSlide" Target="/ppt/notesSlides/notesSlide1.xml" Id="R54fa314d16d74094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edge-samples-encoder" descr="source_id=edge-samples-encoder">
            <a:extLst>
              <a:ext uri="{FF2B5EF4-FFF2-40B4-BE49-F238E27FC236}">
                <a16:creationId id="{8DFEDF15-16B7-4CDD-ACB7-2E3192EDF333}"/>
              </a:ext>
            </a:extLst>
          </p:cNvPr>
          <p:cNvSpPr>
            <a:spLocks noGrp="1"/>
          </p:cNvSpPr>
          <p:nvPr/>
        </p:nvSpPr>
        <p:spPr>
          <a:xfrm rot="0">
            <a:off x="2476500" y="1833563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2" name="edge-samples-encoder-head" descr="source_id=edge-samples-encoder-head">
            <a:extLst>
              <a:ext uri="{FF2B5EF4-FFF2-40B4-BE49-F238E27FC236}">
                <a16:creationId id="{A6170666-5386-41EB-BA1A-AEC3BE77EBDF}"/>
              </a:ext>
            </a:extLst>
          </p:cNvPr>
          <p:cNvSpPr>
            <a:spLocks noGrp="1"/>
          </p:cNvSpPr>
          <p:nvPr/>
        </p:nvSpPr>
        <p:spPr>
          <a:xfrm rot="0">
            <a:off x="3343275" y="1795463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3" name="edge-encoder-features" descr="source_id=edge-encoder-features">
            <a:extLst>
              <a:ext uri="{FF2B5EF4-FFF2-40B4-BE49-F238E27FC236}">
                <a16:creationId id="{84ABA14D-5D5E-48C1-952E-F616BE66C4D6}"/>
              </a:ext>
            </a:extLst>
          </p:cNvPr>
          <p:cNvSpPr>
            <a:spLocks noGrp="1"/>
          </p:cNvSpPr>
          <p:nvPr/>
        </p:nvSpPr>
        <p:spPr>
          <a:xfrm rot="0">
            <a:off x="5295900" y="1833563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4" name="edge-encoder-features-head" descr="source_id=edge-encoder-features-head">
            <a:extLst>
              <a:ext uri="{FF2B5EF4-FFF2-40B4-BE49-F238E27FC236}">
                <a16:creationId id="{A60C7A6A-B5CF-4DA1-9390-0ED298816D22}"/>
              </a:ext>
            </a:extLst>
          </p:cNvPr>
          <p:cNvSpPr>
            <a:spLocks noGrp="1"/>
          </p:cNvSpPr>
          <p:nvPr/>
        </p:nvSpPr>
        <p:spPr>
          <a:xfrm rot="0">
            <a:off x="6162675" y="1795463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5" name="edge-features-head" descr="source_id=edge-features-head">
            <a:extLst>
              <a:ext uri="{FF2B5EF4-FFF2-40B4-BE49-F238E27FC236}">
                <a16:creationId id="{29B00F12-56BC-4B6A-B79B-08E19E4C3B96}"/>
              </a:ext>
            </a:extLst>
          </p:cNvPr>
          <p:cNvSpPr>
            <a:spLocks noGrp="1"/>
          </p:cNvSpPr>
          <p:nvPr/>
        </p:nvSpPr>
        <p:spPr>
          <a:xfrm rot="0">
            <a:off x="8115300" y="1833563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6" name="edge-features-head-head" descr="source_id=edge-features-head-head">
            <a:extLst>
              <a:ext uri="{FF2B5EF4-FFF2-40B4-BE49-F238E27FC236}">
                <a16:creationId id="{B623B01B-F172-43EB-8DE9-E149F4751E82}"/>
              </a:ext>
            </a:extLst>
          </p:cNvPr>
          <p:cNvSpPr>
            <a:spLocks noGrp="1"/>
          </p:cNvSpPr>
          <p:nvPr/>
        </p:nvSpPr>
        <p:spPr>
          <a:xfrm rot="0">
            <a:off x="8982075" y="1795463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7" name="edge-head-predictions" descr="source_id=edge-head-predictions">
            <a:extLst>
              <a:ext uri="{FF2B5EF4-FFF2-40B4-BE49-F238E27FC236}">
                <a16:creationId id="{6CA6CE54-6750-4DA3-A4EE-1F85F7022719}"/>
              </a:ext>
            </a:extLst>
          </p:cNvPr>
          <p:cNvSpPr>
            <a:spLocks noGrp="1"/>
          </p:cNvSpPr>
          <p:nvPr/>
        </p:nvSpPr>
        <p:spPr>
          <a:xfrm rot="0">
            <a:off x="10934700" y="1833563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8" name="edge-head-predictions-head" descr="source_id=edge-head-predictions-head">
            <a:extLst>
              <a:ext uri="{FF2B5EF4-FFF2-40B4-BE49-F238E27FC236}">
                <a16:creationId id="{8CFD6765-637F-47F5-9C2C-955CD75E6AE2}"/>
              </a:ext>
            </a:extLst>
          </p:cNvPr>
          <p:cNvSpPr>
            <a:spLocks noGrp="1"/>
          </p:cNvSpPr>
          <p:nvPr/>
        </p:nvSpPr>
        <p:spPr>
          <a:xfrm rot="0">
            <a:off x="11801475" y="1795463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9" name="edge-targets-objective" descr="source_id=edge-targets-objective">
            <a:extLst>
              <a:ext uri="{FF2B5EF4-FFF2-40B4-BE49-F238E27FC236}">
                <a16:creationId id="{D8B91B58-78F3-47E9-829D-30173D21634B}"/>
              </a:ext>
            </a:extLst>
          </p:cNvPr>
          <p:cNvSpPr>
            <a:spLocks noGrp="1"/>
          </p:cNvSpPr>
          <p:nvPr/>
        </p:nvSpPr>
        <p:spPr>
          <a:xfrm rot="0">
            <a:off x="8115300" y="4033838"/>
            <a:ext cx="933450" cy="95"/>
          </a:xfrm>
          <a:custGeom>
            <a:pathLst>
              <a:path w="933450" h="95">
                <a:moveTo>
                  <a:pt x="0" y="0"/>
                </a:moveTo>
                <a:lnTo>
                  <a:pt x="57150" y="0"/>
                </a:lnTo>
                <a:moveTo>
                  <a:pt x="114300" y="0"/>
                </a:moveTo>
                <a:lnTo>
                  <a:pt x="171450" y="0"/>
                </a:lnTo>
                <a:moveTo>
                  <a:pt x="190500" y="0"/>
                </a:moveTo>
                <a:lnTo>
                  <a:pt x="247650" y="0"/>
                </a:lnTo>
                <a:moveTo>
                  <a:pt x="304800" y="0"/>
                </a:moveTo>
                <a:lnTo>
                  <a:pt x="361950" y="0"/>
                </a:lnTo>
                <a:moveTo>
                  <a:pt x="419100" y="0"/>
                </a:moveTo>
                <a:lnTo>
                  <a:pt x="476250" y="0"/>
                </a:lnTo>
                <a:moveTo>
                  <a:pt x="533400" y="0"/>
                </a:moveTo>
                <a:lnTo>
                  <a:pt x="590550" y="0"/>
                </a:lnTo>
                <a:moveTo>
                  <a:pt x="647700" y="0"/>
                </a:moveTo>
                <a:lnTo>
                  <a:pt x="704850" y="0"/>
                </a:lnTo>
                <a:moveTo>
                  <a:pt x="762000" y="0"/>
                </a:moveTo>
                <a:lnTo>
                  <a:pt x="819150" y="0"/>
                </a:lnTo>
                <a:moveTo>
                  <a:pt x="876300" y="0"/>
                </a:moveTo>
                <a:lnTo>
                  <a:pt x="933450" y="0"/>
                </a:lnTo>
              </a:path>
            </a:pathLst>
          </a:custGeom>
          <a:noFill/>
          <a:ln w="17145" cap="rnd">
            <a:solidFill>
              <a:srgbClr val="A37242">
                <a:alpha val="100000"/>
              </a:srgbClr>
            </a:solidFill>
            <a:prstDash val="solid"/>
            <a:round/>
          </a:ln>
        </p:spPr>
      </p:sp>
      <p:sp>
        <p:nvSpPr>
          <p:cNvPr id="10" name="edge-targets-objective-head" descr="source_id=edge-targets-objective-head">
            <a:extLst>
              <a:ext uri="{FF2B5EF4-FFF2-40B4-BE49-F238E27FC236}">
                <a16:creationId id="{F0BA69F0-D1D7-4193-95B6-3B98F6E83E34}"/>
              </a:ext>
            </a:extLst>
          </p:cNvPr>
          <p:cNvSpPr>
            <a:spLocks noGrp="1"/>
          </p:cNvSpPr>
          <p:nvPr/>
        </p:nvSpPr>
        <p:spPr>
          <a:xfrm rot="0">
            <a:off x="8982075" y="3995738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A37242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11" name="edge-predictions-objective" descr="source_id=edge-predictions-objective">
            <a:extLst>
              <a:ext uri="{FF2B5EF4-FFF2-40B4-BE49-F238E27FC236}">
                <a16:creationId id="{7677D857-A1B1-4BF9-ACF4-064B76A6C8C1}"/>
              </a:ext>
            </a:extLst>
          </p:cNvPr>
          <p:cNvSpPr>
            <a:spLocks noGrp="1"/>
          </p:cNvSpPr>
          <p:nvPr/>
        </p:nvSpPr>
        <p:spPr>
          <a:xfrm rot="0">
            <a:off x="10001250" y="2409825"/>
            <a:ext cx="2819400" cy="1028700"/>
          </a:xfrm>
          <a:custGeom>
            <a:pathLst>
              <a:path w="2819400" h="1028700">
                <a:moveTo>
                  <a:pt x="2819400" y="0"/>
                </a:moveTo>
                <a:lnTo>
                  <a:pt x="2819400" y="57150"/>
                </a:lnTo>
                <a:moveTo>
                  <a:pt x="2819400" y="114300"/>
                </a:moveTo>
                <a:lnTo>
                  <a:pt x="2819400" y="171450"/>
                </a:lnTo>
                <a:moveTo>
                  <a:pt x="2819400" y="190500"/>
                </a:moveTo>
                <a:lnTo>
                  <a:pt x="2819400" y="247650"/>
                </a:lnTo>
                <a:moveTo>
                  <a:pt x="2819400" y="304800"/>
                </a:moveTo>
                <a:lnTo>
                  <a:pt x="2819400" y="361950"/>
                </a:lnTo>
                <a:moveTo>
                  <a:pt x="2819400" y="419100"/>
                </a:moveTo>
                <a:lnTo>
                  <a:pt x="2819400" y="476250"/>
                </a:lnTo>
                <a:moveTo>
                  <a:pt x="2819400" y="533400"/>
                </a:moveTo>
                <a:lnTo>
                  <a:pt x="2819400" y="590550"/>
                </a:lnTo>
                <a:moveTo>
                  <a:pt x="2819400" y="647700"/>
                </a:moveTo>
                <a:lnTo>
                  <a:pt x="2819400" y="704850"/>
                </a:lnTo>
                <a:moveTo>
                  <a:pt x="2819400" y="762000"/>
                </a:moveTo>
                <a:lnTo>
                  <a:pt x="2819400" y="819150"/>
                </a:lnTo>
                <a:moveTo>
                  <a:pt x="2819400" y="857250"/>
                </a:moveTo>
                <a:lnTo>
                  <a:pt x="2762250" y="857250"/>
                </a:lnTo>
                <a:moveTo>
                  <a:pt x="2705100" y="857250"/>
                </a:moveTo>
                <a:lnTo>
                  <a:pt x="2647950" y="857250"/>
                </a:lnTo>
                <a:moveTo>
                  <a:pt x="2590800" y="857250"/>
                </a:moveTo>
                <a:lnTo>
                  <a:pt x="2533650" y="857250"/>
                </a:lnTo>
                <a:moveTo>
                  <a:pt x="2476500" y="857250"/>
                </a:moveTo>
                <a:lnTo>
                  <a:pt x="2419350" y="857250"/>
                </a:lnTo>
                <a:moveTo>
                  <a:pt x="2362200" y="857250"/>
                </a:moveTo>
                <a:lnTo>
                  <a:pt x="2305050" y="857250"/>
                </a:lnTo>
                <a:moveTo>
                  <a:pt x="2247900" y="857250"/>
                </a:moveTo>
                <a:lnTo>
                  <a:pt x="2190750" y="857250"/>
                </a:lnTo>
                <a:moveTo>
                  <a:pt x="2133600" y="857250"/>
                </a:moveTo>
                <a:lnTo>
                  <a:pt x="2076450" y="857250"/>
                </a:lnTo>
                <a:moveTo>
                  <a:pt x="2019300" y="857250"/>
                </a:moveTo>
                <a:lnTo>
                  <a:pt x="1962150" y="857250"/>
                </a:lnTo>
                <a:moveTo>
                  <a:pt x="1905000" y="857250"/>
                </a:moveTo>
                <a:lnTo>
                  <a:pt x="1847850" y="857250"/>
                </a:lnTo>
                <a:moveTo>
                  <a:pt x="1790700" y="857250"/>
                </a:moveTo>
                <a:lnTo>
                  <a:pt x="1733550" y="857250"/>
                </a:lnTo>
                <a:moveTo>
                  <a:pt x="1676400" y="857250"/>
                </a:moveTo>
                <a:lnTo>
                  <a:pt x="1619250" y="857250"/>
                </a:lnTo>
                <a:moveTo>
                  <a:pt x="1562100" y="857250"/>
                </a:moveTo>
                <a:lnTo>
                  <a:pt x="1504950" y="857250"/>
                </a:lnTo>
                <a:moveTo>
                  <a:pt x="1447800" y="857250"/>
                </a:moveTo>
                <a:lnTo>
                  <a:pt x="1390650" y="857250"/>
                </a:lnTo>
                <a:moveTo>
                  <a:pt x="1333500" y="857250"/>
                </a:moveTo>
                <a:lnTo>
                  <a:pt x="1276350" y="857250"/>
                </a:lnTo>
                <a:moveTo>
                  <a:pt x="1219200" y="857250"/>
                </a:moveTo>
                <a:lnTo>
                  <a:pt x="1162050" y="857250"/>
                </a:lnTo>
                <a:moveTo>
                  <a:pt x="1104900" y="857250"/>
                </a:moveTo>
                <a:lnTo>
                  <a:pt x="1047750" y="857250"/>
                </a:lnTo>
                <a:moveTo>
                  <a:pt x="990600" y="857250"/>
                </a:moveTo>
                <a:lnTo>
                  <a:pt x="933450" y="857250"/>
                </a:lnTo>
                <a:moveTo>
                  <a:pt x="876300" y="857250"/>
                </a:moveTo>
                <a:lnTo>
                  <a:pt x="819150" y="857250"/>
                </a:lnTo>
                <a:moveTo>
                  <a:pt x="762000" y="857250"/>
                </a:moveTo>
                <a:lnTo>
                  <a:pt x="704850" y="857250"/>
                </a:lnTo>
                <a:moveTo>
                  <a:pt x="647700" y="857250"/>
                </a:moveTo>
                <a:lnTo>
                  <a:pt x="590550" y="857250"/>
                </a:lnTo>
                <a:moveTo>
                  <a:pt x="533400" y="857250"/>
                </a:moveTo>
                <a:lnTo>
                  <a:pt x="476250" y="857250"/>
                </a:lnTo>
                <a:moveTo>
                  <a:pt x="419100" y="857250"/>
                </a:moveTo>
                <a:lnTo>
                  <a:pt x="361950" y="857250"/>
                </a:lnTo>
                <a:moveTo>
                  <a:pt x="304800" y="857250"/>
                </a:moveTo>
                <a:lnTo>
                  <a:pt x="247650" y="857250"/>
                </a:lnTo>
                <a:moveTo>
                  <a:pt x="190500" y="857250"/>
                </a:moveTo>
                <a:lnTo>
                  <a:pt x="133350" y="857250"/>
                </a:lnTo>
                <a:moveTo>
                  <a:pt x="76200" y="857250"/>
                </a:moveTo>
                <a:lnTo>
                  <a:pt x="19050" y="857250"/>
                </a:lnTo>
                <a:moveTo>
                  <a:pt x="0" y="857250"/>
                </a:moveTo>
                <a:lnTo>
                  <a:pt x="0" y="914400"/>
                </a:lnTo>
                <a:moveTo>
                  <a:pt x="0" y="971550"/>
                </a:moveTo>
                <a:lnTo>
                  <a:pt x="0" y="1028700"/>
                </a:lnTo>
              </a:path>
            </a:pathLst>
          </a:custGeom>
          <a:noFill/>
          <a:ln w="17145" cap="rnd">
            <a:solidFill>
              <a:srgbClr val="A37242">
                <a:alpha val="100000"/>
              </a:srgbClr>
            </a:solidFill>
            <a:prstDash val="solid"/>
            <a:round/>
          </a:ln>
        </p:spPr>
      </p:sp>
      <p:sp>
        <p:nvSpPr>
          <p:cNvPr id="12" name="edge-predictions-objective-head" descr="source_id=edge-predictions-objective-head">
            <a:extLst>
              <a:ext uri="{FF2B5EF4-FFF2-40B4-BE49-F238E27FC236}">
                <a16:creationId id="{940CC427-81D0-4EE2-88E2-108F1D17B89A}"/>
              </a:ext>
            </a:extLst>
          </p:cNvPr>
          <p:cNvSpPr>
            <a:spLocks noGrp="1"/>
          </p:cNvSpPr>
          <p:nvPr/>
        </p:nvSpPr>
        <p:spPr>
          <a:xfrm rot="0">
            <a:off x="9963150" y="3371850"/>
            <a:ext cx="76200" cy="85725"/>
          </a:xfrm>
          <a:custGeom>
            <a:pathLst>
              <a:path w="76200" h="85725">
                <a:moveTo>
                  <a:pt x="0" y="0"/>
                </a:moveTo>
                <a:lnTo>
                  <a:pt x="76200" y="0"/>
                </a:lnTo>
                <a:lnTo>
                  <a:pt x="38100" y="85725"/>
                </a:lnTo>
                <a:close/>
              </a:path>
            </a:pathLst>
          </a:custGeom>
          <a:solidFill>
            <a:srgbClr val="A37242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13" name="edge-objective-update" descr="source_id=edge-objective-update">
            <a:extLst>
              <a:ext uri="{FF2B5EF4-FFF2-40B4-BE49-F238E27FC236}">
                <a16:creationId id="{A66EC0AF-A1FE-4A96-A022-AE800D00DA7E}"/>
              </a:ext>
            </a:extLst>
          </p:cNvPr>
          <p:cNvSpPr>
            <a:spLocks noGrp="1"/>
          </p:cNvSpPr>
          <p:nvPr/>
        </p:nvSpPr>
        <p:spPr>
          <a:xfrm rot="0">
            <a:off x="4362450" y="2428875"/>
            <a:ext cx="5638800" cy="2371725"/>
          </a:xfrm>
          <a:custGeom>
            <a:pathLst>
              <a:path w="5638800" h="2371725">
                <a:moveTo>
                  <a:pt x="5638800" y="2181225"/>
                </a:moveTo>
                <a:lnTo>
                  <a:pt x="5638800" y="2238375"/>
                </a:lnTo>
                <a:moveTo>
                  <a:pt x="5638800" y="2295525"/>
                </a:moveTo>
                <a:lnTo>
                  <a:pt x="5638800" y="2352675"/>
                </a:lnTo>
                <a:moveTo>
                  <a:pt x="5638800" y="2371725"/>
                </a:moveTo>
                <a:lnTo>
                  <a:pt x="5581650" y="2371725"/>
                </a:lnTo>
                <a:moveTo>
                  <a:pt x="5524500" y="2371725"/>
                </a:moveTo>
                <a:lnTo>
                  <a:pt x="5467350" y="2371725"/>
                </a:lnTo>
                <a:moveTo>
                  <a:pt x="5410200" y="2371725"/>
                </a:moveTo>
                <a:lnTo>
                  <a:pt x="5353050" y="2371725"/>
                </a:lnTo>
                <a:moveTo>
                  <a:pt x="5295900" y="2371725"/>
                </a:moveTo>
                <a:lnTo>
                  <a:pt x="5238750" y="2371725"/>
                </a:lnTo>
                <a:moveTo>
                  <a:pt x="5181600" y="2371725"/>
                </a:moveTo>
                <a:lnTo>
                  <a:pt x="5124450" y="2371725"/>
                </a:lnTo>
                <a:moveTo>
                  <a:pt x="5067300" y="2371725"/>
                </a:moveTo>
                <a:lnTo>
                  <a:pt x="5010150" y="2371725"/>
                </a:lnTo>
                <a:moveTo>
                  <a:pt x="4953000" y="2371725"/>
                </a:moveTo>
                <a:lnTo>
                  <a:pt x="4895850" y="2371725"/>
                </a:lnTo>
                <a:moveTo>
                  <a:pt x="4838700" y="2371725"/>
                </a:moveTo>
                <a:lnTo>
                  <a:pt x="4781550" y="2371725"/>
                </a:lnTo>
                <a:moveTo>
                  <a:pt x="4724400" y="2371725"/>
                </a:moveTo>
                <a:lnTo>
                  <a:pt x="4667250" y="2371725"/>
                </a:lnTo>
                <a:moveTo>
                  <a:pt x="4610100" y="2371725"/>
                </a:moveTo>
                <a:lnTo>
                  <a:pt x="4552950" y="2371725"/>
                </a:lnTo>
                <a:moveTo>
                  <a:pt x="4495800" y="2371725"/>
                </a:moveTo>
                <a:lnTo>
                  <a:pt x="4438650" y="2371725"/>
                </a:lnTo>
                <a:moveTo>
                  <a:pt x="4381500" y="2371725"/>
                </a:moveTo>
                <a:lnTo>
                  <a:pt x="4324350" y="2371725"/>
                </a:lnTo>
                <a:moveTo>
                  <a:pt x="4267200" y="2371725"/>
                </a:moveTo>
                <a:lnTo>
                  <a:pt x="4210050" y="2371725"/>
                </a:lnTo>
                <a:moveTo>
                  <a:pt x="4152900" y="2371725"/>
                </a:moveTo>
                <a:lnTo>
                  <a:pt x="4095750" y="2371725"/>
                </a:lnTo>
                <a:moveTo>
                  <a:pt x="4038600" y="2371725"/>
                </a:moveTo>
                <a:lnTo>
                  <a:pt x="3981450" y="2371725"/>
                </a:lnTo>
                <a:moveTo>
                  <a:pt x="3924300" y="2371725"/>
                </a:moveTo>
                <a:lnTo>
                  <a:pt x="3867150" y="2371725"/>
                </a:lnTo>
                <a:moveTo>
                  <a:pt x="3810000" y="2371725"/>
                </a:moveTo>
                <a:lnTo>
                  <a:pt x="3752850" y="2371725"/>
                </a:lnTo>
                <a:moveTo>
                  <a:pt x="3695700" y="2371725"/>
                </a:moveTo>
                <a:lnTo>
                  <a:pt x="3638550" y="2371725"/>
                </a:lnTo>
                <a:moveTo>
                  <a:pt x="3581400" y="2371725"/>
                </a:moveTo>
                <a:lnTo>
                  <a:pt x="3524250" y="2371725"/>
                </a:lnTo>
                <a:moveTo>
                  <a:pt x="3467100" y="2371725"/>
                </a:moveTo>
                <a:lnTo>
                  <a:pt x="3409950" y="2371725"/>
                </a:lnTo>
                <a:moveTo>
                  <a:pt x="3352800" y="2371725"/>
                </a:moveTo>
                <a:lnTo>
                  <a:pt x="3295650" y="2371725"/>
                </a:lnTo>
                <a:moveTo>
                  <a:pt x="3238500" y="2371725"/>
                </a:moveTo>
                <a:lnTo>
                  <a:pt x="3181350" y="2371725"/>
                </a:lnTo>
                <a:moveTo>
                  <a:pt x="3124200" y="2371725"/>
                </a:moveTo>
                <a:lnTo>
                  <a:pt x="3067050" y="2371725"/>
                </a:lnTo>
                <a:moveTo>
                  <a:pt x="3009900" y="2371725"/>
                </a:moveTo>
                <a:lnTo>
                  <a:pt x="2952750" y="2371725"/>
                </a:lnTo>
                <a:moveTo>
                  <a:pt x="2895600" y="2371725"/>
                </a:moveTo>
                <a:lnTo>
                  <a:pt x="2838450" y="2371725"/>
                </a:lnTo>
                <a:moveTo>
                  <a:pt x="2781300" y="2371725"/>
                </a:moveTo>
                <a:lnTo>
                  <a:pt x="2724150" y="2371725"/>
                </a:lnTo>
                <a:moveTo>
                  <a:pt x="2667000" y="2371725"/>
                </a:moveTo>
                <a:lnTo>
                  <a:pt x="2609850" y="2371725"/>
                </a:lnTo>
                <a:moveTo>
                  <a:pt x="2552700" y="2371725"/>
                </a:moveTo>
                <a:lnTo>
                  <a:pt x="2495550" y="2371725"/>
                </a:lnTo>
                <a:moveTo>
                  <a:pt x="2438400" y="2371725"/>
                </a:moveTo>
                <a:lnTo>
                  <a:pt x="2381250" y="2371725"/>
                </a:lnTo>
                <a:moveTo>
                  <a:pt x="2324100" y="2371725"/>
                </a:moveTo>
                <a:lnTo>
                  <a:pt x="2266950" y="2371725"/>
                </a:lnTo>
                <a:moveTo>
                  <a:pt x="2209800" y="2371725"/>
                </a:moveTo>
                <a:lnTo>
                  <a:pt x="2152650" y="2371725"/>
                </a:lnTo>
                <a:moveTo>
                  <a:pt x="2095500" y="2371725"/>
                </a:moveTo>
                <a:lnTo>
                  <a:pt x="2038350" y="2371725"/>
                </a:lnTo>
                <a:moveTo>
                  <a:pt x="1981200" y="2371725"/>
                </a:moveTo>
                <a:lnTo>
                  <a:pt x="1924050" y="2371725"/>
                </a:lnTo>
                <a:moveTo>
                  <a:pt x="1866900" y="2371725"/>
                </a:moveTo>
                <a:lnTo>
                  <a:pt x="1809750" y="2371725"/>
                </a:lnTo>
                <a:moveTo>
                  <a:pt x="1752600" y="2371725"/>
                </a:moveTo>
                <a:lnTo>
                  <a:pt x="1695450" y="2371725"/>
                </a:lnTo>
                <a:moveTo>
                  <a:pt x="1638300" y="2371725"/>
                </a:moveTo>
                <a:lnTo>
                  <a:pt x="1581150" y="2371725"/>
                </a:lnTo>
                <a:moveTo>
                  <a:pt x="1524000" y="2371725"/>
                </a:moveTo>
                <a:lnTo>
                  <a:pt x="1466850" y="2371725"/>
                </a:lnTo>
                <a:moveTo>
                  <a:pt x="1409700" y="2371725"/>
                </a:moveTo>
                <a:lnTo>
                  <a:pt x="1352550" y="2371725"/>
                </a:lnTo>
                <a:moveTo>
                  <a:pt x="1295400" y="2371725"/>
                </a:moveTo>
                <a:lnTo>
                  <a:pt x="1238250" y="2371725"/>
                </a:lnTo>
                <a:moveTo>
                  <a:pt x="1181100" y="2371725"/>
                </a:moveTo>
                <a:lnTo>
                  <a:pt x="1123950" y="2371725"/>
                </a:lnTo>
                <a:moveTo>
                  <a:pt x="1066800" y="2371725"/>
                </a:moveTo>
                <a:lnTo>
                  <a:pt x="1009650" y="2371725"/>
                </a:lnTo>
                <a:moveTo>
                  <a:pt x="952500" y="2371725"/>
                </a:moveTo>
                <a:lnTo>
                  <a:pt x="895350" y="2371725"/>
                </a:lnTo>
                <a:moveTo>
                  <a:pt x="838200" y="2371725"/>
                </a:moveTo>
                <a:lnTo>
                  <a:pt x="781050" y="2371725"/>
                </a:lnTo>
                <a:moveTo>
                  <a:pt x="723900" y="2371725"/>
                </a:moveTo>
                <a:lnTo>
                  <a:pt x="666750" y="2371725"/>
                </a:lnTo>
                <a:moveTo>
                  <a:pt x="609600" y="2371725"/>
                </a:moveTo>
                <a:lnTo>
                  <a:pt x="552450" y="2371725"/>
                </a:lnTo>
                <a:moveTo>
                  <a:pt x="495300" y="2371725"/>
                </a:moveTo>
                <a:lnTo>
                  <a:pt x="438150" y="2371725"/>
                </a:lnTo>
                <a:moveTo>
                  <a:pt x="381000" y="2371725"/>
                </a:moveTo>
                <a:lnTo>
                  <a:pt x="323850" y="2371725"/>
                </a:lnTo>
                <a:moveTo>
                  <a:pt x="266700" y="2371725"/>
                </a:moveTo>
                <a:lnTo>
                  <a:pt x="209550" y="2371725"/>
                </a:lnTo>
                <a:moveTo>
                  <a:pt x="152400" y="2371725"/>
                </a:moveTo>
                <a:lnTo>
                  <a:pt x="95250" y="2371725"/>
                </a:lnTo>
                <a:moveTo>
                  <a:pt x="38100" y="2371725"/>
                </a:moveTo>
                <a:lnTo>
                  <a:pt x="0" y="2371725"/>
                </a:lnTo>
                <a:moveTo>
                  <a:pt x="0" y="2371725"/>
                </a:moveTo>
                <a:lnTo>
                  <a:pt x="0" y="2314575"/>
                </a:lnTo>
                <a:moveTo>
                  <a:pt x="0" y="2257425"/>
                </a:moveTo>
                <a:lnTo>
                  <a:pt x="0" y="2200275"/>
                </a:lnTo>
                <a:moveTo>
                  <a:pt x="0" y="2143125"/>
                </a:moveTo>
                <a:lnTo>
                  <a:pt x="0" y="2085975"/>
                </a:lnTo>
                <a:moveTo>
                  <a:pt x="0" y="2028825"/>
                </a:moveTo>
                <a:lnTo>
                  <a:pt x="0" y="1971675"/>
                </a:lnTo>
                <a:moveTo>
                  <a:pt x="0" y="1914525"/>
                </a:moveTo>
                <a:lnTo>
                  <a:pt x="0" y="1857375"/>
                </a:lnTo>
                <a:moveTo>
                  <a:pt x="0" y="1800225"/>
                </a:moveTo>
                <a:lnTo>
                  <a:pt x="0" y="1743075"/>
                </a:lnTo>
                <a:moveTo>
                  <a:pt x="0" y="1685925"/>
                </a:moveTo>
                <a:lnTo>
                  <a:pt x="0" y="1628775"/>
                </a:lnTo>
                <a:moveTo>
                  <a:pt x="0" y="1571625"/>
                </a:moveTo>
                <a:lnTo>
                  <a:pt x="0" y="1514475"/>
                </a:lnTo>
                <a:moveTo>
                  <a:pt x="0" y="1457325"/>
                </a:moveTo>
                <a:lnTo>
                  <a:pt x="0" y="1400175"/>
                </a:lnTo>
                <a:moveTo>
                  <a:pt x="0" y="1343025"/>
                </a:moveTo>
                <a:lnTo>
                  <a:pt x="0" y="1285875"/>
                </a:lnTo>
                <a:moveTo>
                  <a:pt x="0" y="1228725"/>
                </a:moveTo>
                <a:lnTo>
                  <a:pt x="0" y="1171575"/>
                </a:lnTo>
                <a:moveTo>
                  <a:pt x="0" y="1114425"/>
                </a:moveTo>
                <a:lnTo>
                  <a:pt x="0" y="1057275"/>
                </a:lnTo>
                <a:moveTo>
                  <a:pt x="0" y="1000125"/>
                </a:moveTo>
                <a:lnTo>
                  <a:pt x="0" y="942975"/>
                </a:lnTo>
                <a:moveTo>
                  <a:pt x="0" y="885825"/>
                </a:moveTo>
                <a:lnTo>
                  <a:pt x="0" y="828675"/>
                </a:lnTo>
                <a:moveTo>
                  <a:pt x="0" y="771525"/>
                </a:moveTo>
                <a:lnTo>
                  <a:pt x="0" y="714375"/>
                </a:lnTo>
                <a:moveTo>
                  <a:pt x="0" y="657225"/>
                </a:moveTo>
                <a:lnTo>
                  <a:pt x="0" y="600075"/>
                </a:lnTo>
                <a:moveTo>
                  <a:pt x="0" y="542925"/>
                </a:moveTo>
                <a:lnTo>
                  <a:pt x="0" y="485775"/>
                </a:lnTo>
                <a:moveTo>
                  <a:pt x="0" y="428625"/>
                </a:moveTo>
                <a:lnTo>
                  <a:pt x="0" y="371475"/>
                </a:lnTo>
                <a:moveTo>
                  <a:pt x="0" y="314325"/>
                </a:moveTo>
                <a:lnTo>
                  <a:pt x="0" y="257175"/>
                </a:lnTo>
                <a:moveTo>
                  <a:pt x="0" y="200025"/>
                </a:moveTo>
                <a:lnTo>
                  <a:pt x="0" y="171450"/>
                </a:lnTo>
                <a:moveTo>
                  <a:pt x="0" y="171450"/>
                </a:moveTo>
                <a:lnTo>
                  <a:pt x="0" y="114300"/>
                </a:lnTo>
                <a:moveTo>
                  <a:pt x="0" y="57150"/>
                </a:moveTo>
                <a:lnTo>
                  <a:pt x="0" y="0"/>
                </a:lnTo>
              </a:path>
            </a:pathLst>
          </a:custGeom>
          <a:noFill/>
          <a:ln w="17145" cap="rnd">
            <a:solidFill>
              <a:srgbClr val="64748B">
                <a:alpha val="100000"/>
              </a:srgbClr>
            </a:solidFill>
            <a:prstDash val="solid"/>
            <a:round/>
          </a:ln>
        </p:spPr>
      </p:sp>
      <p:sp>
        <p:nvSpPr>
          <p:cNvPr id="14" name="edge-objective-update-head" descr="source_id=edge-objective-update-head">
            <a:extLst>
              <a:ext uri="{FF2B5EF4-FFF2-40B4-BE49-F238E27FC236}">
                <a16:creationId id="{474A341D-B5DE-47A0-B428-351481EE6428}"/>
              </a:ext>
            </a:extLst>
          </p:cNvPr>
          <p:cNvSpPr>
            <a:spLocks noGrp="1"/>
          </p:cNvSpPr>
          <p:nvPr/>
        </p:nvSpPr>
        <p:spPr>
          <a:xfrm rot="0">
            <a:off x="4324350" y="2409825"/>
            <a:ext cx="76200" cy="85725"/>
          </a:xfrm>
          <a:custGeom>
            <a:pathLst>
              <a:path w="76200" h="85725">
                <a:moveTo>
                  <a:pt x="0" y="85725"/>
                </a:moveTo>
                <a:lnTo>
                  <a:pt x="38100" y="0"/>
                </a:lnTo>
                <a:lnTo>
                  <a:pt x="76200" y="85725"/>
                </a:lnTo>
                <a:close/>
              </a:path>
            </a:pathLst>
          </a:custGeom>
          <a:solidFill>
            <a:srgbClr val="64748B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15" name="edge-objective-update-label-bg" descr="source_id=edge-objective-update-label-bg">
            <a:extLst>
              <a:ext uri="{FF2B5EF4-FFF2-40B4-BE49-F238E27FC236}">
                <a16:creationId id="{6AA09F61-3ECF-4380-A2CC-C82E1A22470F}"/>
              </a:ext>
            </a:extLst>
          </p:cNvPr>
          <p:cNvSpPr>
            <a:spLocks noGrp="1"/>
          </p:cNvSpPr>
          <p:nvPr/>
        </p:nvSpPr>
        <p:spPr>
          <a:xfrm rot="0">
            <a:off x="4448175" y="3576638"/>
            <a:ext cx="1487388" cy="247650"/>
          </a:xfrm>
          <a:custGeom>
            <a:pathLst>
              <a:path w="1487388" h="247650">
                <a:moveTo>
                  <a:pt x="19050" y="0"/>
                </a:moveTo>
                <a:lnTo>
                  <a:pt x="1468338" y="0"/>
                </a:lnTo>
                <a:cubicBezTo>
                  <a:pt x="1478859" y="0"/>
                  <a:pt x="1487388" y="8529"/>
                  <a:pt x="1487388" y="19050"/>
                </a:cubicBezTo>
                <a:lnTo>
                  <a:pt x="1487388" y="228600"/>
                </a:lnTo>
                <a:cubicBezTo>
                  <a:pt x="1487388" y="239121"/>
                  <a:pt x="1478859" y="247650"/>
                  <a:pt x="1468338" y="247650"/>
                </a:cubicBezTo>
                <a:lnTo>
                  <a:pt x="19050" y="247650"/>
                </a:lnTo>
                <a:cubicBezTo>
                  <a:pt x="8529" y="247650"/>
                  <a:pt x="0" y="239121"/>
                  <a:pt x="0" y="2286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16" name="edge-objective-update-label" descr="source_id=edge-objective-update-label">
            <a:extLst>
              <a:ext uri="{FF2B5EF4-FFF2-40B4-BE49-F238E27FC236}">
                <a16:creationId id="{3E39A557-CD28-4143-9EC9-67A13C29F981}"/>
              </a:ext>
            </a:extLst>
          </p:cNvPr>
          <p:cNvSpPr>
            <a:spLocks noGrp="1"/>
          </p:cNvSpPr>
          <p:nvPr/>
        </p:nvSpPr>
        <p:spPr>
          <a:xfrm rot="0">
            <a:off x="4448175" y="3576638"/>
            <a:ext cx="1487388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64748B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parameter update</a:t>
            </a:r>
          </a:p>
        </p:txBody>
      </p:sp>
      <p:sp>
        <p:nvSpPr>
          <p:cNvPr id="17" name="node-samples" descr="source_id=node-samples">
            <a:extLst>
              <a:ext uri="{FF2B5EF4-FFF2-40B4-BE49-F238E27FC236}">
                <a16:creationId id="{BB378EE8-47FB-4BBC-A723-C6CF0D9895D4}"/>
              </a:ext>
            </a:extLst>
          </p:cNvPr>
          <p:cNvSpPr>
            <a:spLocks noGrp="1"/>
          </p:cNvSpPr>
          <p:nvPr/>
        </p:nvSpPr>
        <p:spPr>
          <a:xfrm rot="0">
            <a:off x="609600" y="1257300"/>
            <a:ext cx="1866900" cy="1152525"/>
          </a:xfrm>
          <a:custGeom>
            <a:pathLst>
              <a:path w="1866900" h="1152525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057275"/>
                </a:lnTo>
                <a:cubicBezTo>
                  <a:pt x="1866900" y="1109880"/>
                  <a:pt x="1824255" y="1152525"/>
                  <a:pt x="1771650" y="1152525"/>
                </a:cubicBezTo>
                <a:lnTo>
                  <a:pt x="95250" y="1152525"/>
                </a:lnTo>
                <a:cubicBezTo>
                  <a:pt x="42645" y="1152525"/>
                  <a:pt x="0" y="1109880"/>
                  <a:pt x="0" y="1057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2F4F7">
              <a:alpha val="100000"/>
            </a:srgbClr>
          </a:solidFill>
          <a:ln w="14288" cap="rnd">
            <a:solidFill>
              <a:srgbClr val="667085">
                <a:alpha val="100000"/>
              </a:srgbClr>
            </a:solidFill>
            <a:prstDash val="solid"/>
            <a:round/>
          </a:ln>
        </p:spPr>
      </p:sp>
      <p:sp>
        <p:nvSpPr>
          <p:cNvPr id="18" name="node-samples-label" descr="source_id=node-samples-label">
            <a:extLst>
              <a:ext uri="{FF2B5EF4-FFF2-40B4-BE49-F238E27FC236}">
                <a16:creationId id="{94B8ACCF-64F6-4969-85ED-9050920523EA}"/>
              </a:ext>
            </a:extLst>
          </p:cNvPr>
          <p:cNvSpPr>
            <a:spLocks noGrp="1"/>
          </p:cNvSpPr>
          <p:nvPr/>
        </p:nvSpPr>
        <p:spPr>
          <a:xfrm rot="0">
            <a:off x="762000" y="1695450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Samples</a:t>
            </a:r>
          </a:p>
        </p:txBody>
      </p:sp>
      <p:sp>
        <p:nvSpPr>
          <p:cNvPr id="19" name="node-encoder" descr="source_id=node-encoder">
            <a:extLst>
              <a:ext uri="{FF2B5EF4-FFF2-40B4-BE49-F238E27FC236}">
                <a16:creationId id="{423EE714-25FF-4B26-A661-387135583A14}"/>
              </a:ext>
            </a:extLst>
          </p:cNvPr>
          <p:cNvSpPr>
            <a:spLocks noGrp="1"/>
          </p:cNvSpPr>
          <p:nvPr/>
        </p:nvSpPr>
        <p:spPr>
          <a:xfrm rot="0">
            <a:off x="3429000" y="1257300"/>
            <a:ext cx="1866900" cy="1152525"/>
          </a:xfrm>
          <a:custGeom>
            <a:pathLst>
              <a:path w="1866900" h="1152525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057275"/>
                </a:lnTo>
                <a:cubicBezTo>
                  <a:pt x="1866900" y="1109880"/>
                  <a:pt x="1824255" y="1152525"/>
                  <a:pt x="1771650" y="1152525"/>
                </a:cubicBezTo>
                <a:lnTo>
                  <a:pt x="95250" y="1152525"/>
                </a:lnTo>
                <a:cubicBezTo>
                  <a:pt x="42645" y="1152525"/>
                  <a:pt x="0" y="1109880"/>
                  <a:pt x="0" y="1057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8FA">
              <a:alpha val="100000"/>
            </a:srgbClr>
          </a:solidFill>
          <a:ln w="20955" cap="rnd">
            <a:solidFill>
              <a:srgbClr val="285B99">
                <a:alpha val="100000"/>
              </a:srgbClr>
            </a:solidFill>
            <a:prstDash val="solid"/>
            <a:round/>
          </a:ln>
        </p:spPr>
      </p:sp>
      <p:sp>
        <p:nvSpPr>
          <p:cNvPr id="20" name="node-encoder-label" descr="source_id=node-encoder-label">
            <a:extLst>
              <a:ext uri="{FF2B5EF4-FFF2-40B4-BE49-F238E27FC236}">
                <a16:creationId id="{5B1519E4-8D8C-47E9-A64B-B2877178F3FE}"/>
              </a:ext>
            </a:extLst>
          </p:cNvPr>
          <p:cNvSpPr>
            <a:spLocks noGrp="1"/>
          </p:cNvSpPr>
          <p:nvPr/>
        </p:nvSpPr>
        <p:spPr>
          <a:xfrm rot="0">
            <a:off x="3581400" y="1409700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1" name="node-encoder-detail" descr="source_id=node-encoder-detail">
            <a:extLst>
              <a:ext uri="{FF2B5EF4-FFF2-40B4-BE49-F238E27FC236}">
                <a16:creationId id="{54861076-61E5-4B52-8443-0C3BAF48A68A}"/>
              </a:ext>
            </a:extLst>
          </p:cNvPr>
          <p:cNvSpPr>
            <a:spLocks noGrp="1"/>
          </p:cNvSpPr>
          <p:nvPr/>
        </p:nvSpPr>
        <p:spPr>
          <a:xfrm rot="0">
            <a:off x="3581400" y="1800225"/>
            <a:ext cx="156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Trainable representation</a:t>
            </a:r>
          </a:p>
        </p:txBody>
      </p:sp>
      <p:sp>
        <p:nvSpPr>
          <p:cNvPr id="22" name="node-features-layer-2" descr="source_id=node-features-layer-2">
            <a:extLst>
              <a:ext uri="{FF2B5EF4-FFF2-40B4-BE49-F238E27FC236}">
                <a16:creationId id="{0BDB128F-F808-4422-A3B6-EE11EFC9AAE6}"/>
              </a:ext>
            </a:extLst>
          </p:cNvPr>
          <p:cNvSpPr>
            <a:spLocks noGrp="1"/>
          </p:cNvSpPr>
          <p:nvPr/>
        </p:nvSpPr>
        <p:spPr>
          <a:xfrm rot="0">
            <a:off x="6324600" y="1181100"/>
            <a:ext cx="1866900" cy="1152525"/>
          </a:xfrm>
          <a:custGeom>
            <a:pathLst>
              <a:path w="1866900" h="1152525">
                <a:moveTo>
                  <a:pt x="38100" y="0"/>
                </a:moveTo>
                <a:lnTo>
                  <a:pt x="1828800" y="0"/>
                </a:lnTo>
                <a:cubicBezTo>
                  <a:pt x="1849842" y="0"/>
                  <a:pt x="1866900" y="17058"/>
                  <a:pt x="1866900" y="38100"/>
                </a:cubicBezTo>
                <a:lnTo>
                  <a:pt x="1866900" y="1114425"/>
                </a:lnTo>
                <a:cubicBezTo>
                  <a:pt x="1866900" y="1135467"/>
                  <a:pt x="1849842" y="1152525"/>
                  <a:pt x="1828800" y="1152525"/>
                </a:cubicBezTo>
                <a:lnTo>
                  <a:pt x="38100" y="1152525"/>
                </a:lnTo>
                <a:cubicBezTo>
                  <a:pt x="17058" y="1152525"/>
                  <a:pt x="0" y="1135467"/>
                  <a:pt x="0" y="11144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5EF">
              <a:alpha val="100000"/>
            </a:srgbClr>
          </a:solidFill>
          <a:ln w="9525" cap="rnd">
            <a:solidFill>
              <a:srgbClr val="427A60">
                <a:alpha val="100000"/>
              </a:srgbClr>
            </a:solidFill>
            <a:prstDash val="solid"/>
            <a:round/>
          </a:ln>
        </p:spPr>
      </p:sp>
      <p:sp>
        <p:nvSpPr>
          <p:cNvPr id="23" name="node-features-layer-1" descr="source_id=node-features-layer-1">
            <a:extLst>
              <a:ext uri="{FF2B5EF4-FFF2-40B4-BE49-F238E27FC236}">
                <a16:creationId id="{368CB4E4-0A75-4B50-AF0A-AC7487F7F609}"/>
              </a:ext>
            </a:extLst>
          </p:cNvPr>
          <p:cNvSpPr>
            <a:spLocks noGrp="1"/>
          </p:cNvSpPr>
          <p:nvPr/>
        </p:nvSpPr>
        <p:spPr>
          <a:xfrm rot="0">
            <a:off x="6286500" y="1219200"/>
            <a:ext cx="1866900" cy="1152525"/>
          </a:xfrm>
          <a:custGeom>
            <a:pathLst>
              <a:path w="1866900" h="1152525">
                <a:moveTo>
                  <a:pt x="38100" y="0"/>
                </a:moveTo>
                <a:lnTo>
                  <a:pt x="1828800" y="0"/>
                </a:lnTo>
                <a:cubicBezTo>
                  <a:pt x="1849842" y="0"/>
                  <a:pt x="1866900" y="17058"/>
                  <a:pt x="1866900" y="38100"/>
                </a:cubicBezTo>
                <a:lnTo>
                  <a:pt x="1866900" y="1114425"/>
                </a:lnTo>
                <a:cubicBezTo>
                  <a:pt x="1866900" y="1135467"/>
                  <a:pt x="1849842" y="1152525"/>
                  <a:pt x="1828800" y="1152525"/>
                </a:cubicBezTo>
                <a:lnTo>
                  <a:pt x="38100" y="1152525"/>
                </a:lnTo>
                <a:cubicBezTo>
                  <a:pt x="17058" y="1152525"/>
                  <a:pt x="0" y="1135467"/>
                  <a:pt x="0" y="11144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5EF">
              <a:alpha val="100000"/>
            </a:srgbClr>
          </a:solidFill>
          <a:ln w="9525" cap="rnd">
            <a:solidFill>
              <a:srgbClr val="427A60">
                <a:alpha val="100000"/>
              </a:srgbClr>
            </a:solidFill>
            <a:prstDash val="solid"/>
            <a:round/>
          </a:ln>
        </p:spPr>
      </p:sp>
      <p:sp>
        <p:nvSpPr>
          <p:cNvPr id="24" name="node-features" descr="source_id=node-features">
            <a:extLst>
              <a:ext uri="{FF2B5EF4-FFF2-40B4-BE49-F238E27FC236}">
                <a16:creationId id="{5540CCEE-4ADA-4876-BA89-419798DBEED1}"/>
              </a:ext>
            </a:extLst>
          </p:cNvPr>
          <p:cNvSpPr>
            <a:spLocks noGrp="1"/>
          </p:cNvSpPr>
          <p:nvPr/>
        </p:nvSpPr>
        <p:spPr>
          <a:xfrm rot="0">
            <a:off x="6248400" y="1257300"/>
            <a:ext cx="1866900" cy="1152525"/>
          </a:xfrm>
          <a:custGeom>
            <a:pathLst>
              <a:path w="1866900" h="1152525">
                <a:moveTo>
                  <a:pt x="38100" y="0"/>
                </a:moveTo>
                <a:lnTo>
                  <a:pt x="1828800" y="0"/>
                </a:lnTo>
                <a:cubicBezTo>
                  <a:pt x="1849842" y="0"/>
                  <a:pt x="1866900" y="17058"/>
                  <a:pt x="1866900" y="38100"/>
                </a:cubicBezTo>
                <a:lnTo>
                  <a:pt x="1866900" y="1114425"/>
                </a:lnTo>
                <a:cubicBezTo>
                  <a:pt x="1866900" y="1135467"/>
                  <a:pt x="1849842" y="1152525"/>
                  <a:pt x="1828800" y="1152525"/>
                </a:cubicBezTo>
                <a:lnTo>
                  <a:pt x="38100" y="1152525"/>
                </a:lnTo>
                <a:cubicBezTo>
                  <a:pt x="17058" y="1152525"/>
                  <a:pt x="0" y="1135467"/>
                  <a:pt x="0" y="11144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5EF">
              <a:alpha val="100000"/>
            </a:srgbClr>
          </a:solidFill>
          <a:ln w="14288" cap="rnd">
            <a:solidFill>
              <a:srgbClr val="427A60">
                <a:alpha val="100000"/>
              </a:srgbClr>
            </a:solidFill>
            <a:prstDash val="solid"/>
            <a:round/>
          </a:ln>
        </p:spPr>
      </p:sp>
      <p:sp>
        <p:nvSpPr>
          <p:cNvPr id="25" name="node-features-label" descr="source_id=node-features-label">
            <a:extLst>
              <a:ext uri="{FF2B5EF4-FFF2-40B4-BE49-F238E27FC236}">
                <a16:creationId id="{A1E0E371-56DB-404D-90A4-E265041A313A}"/>
              </a:ext>
            </a:extLst>
          </p:cNvPr>
          <p:cNvSpPr>
            <a:spLocks noGrp="1"/>
          </p:cNvSpPr>
          <p:nvPr/>
        </p:nvSpPr>
        <p:spPr>
          <a:xfrm rot="0">
            <a:off x="6400800" y="1695450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6" name="node-head" descr="source_id=node-head">
            <a:extLst>
              <a:ext uri="{FF2B5EF4-FFF2-40B4-BE49-F238E27FC236}">
                <a16:creationId id="{D8A34454-3BB0-44BA-B15F-5BAEEC670730}"/>
              </a:ext>
            </a:extLst>
          </p:cNvPr>
          <p:cNvSpPr>
            <a:spLocks noGrp="1"/>
          </p:cNvSpPr>
          <p:nvPr/>
        </p:nvSpPr>
        <p:spPr>
          <a:xfrm rot="0">
            <a:off x="9067800" y="1257300"/>
            <a:ext cx="1866900" cy="1152525"/>
          </a:xfrm>
          <a:custGeom>
            <a:pathLst>
              <a:path w="1866900" h="1152525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057275"/>
                </a:lnTo>
                <a:cubicBezTo>
                  <a:pt x="1866900" y="1109880"/>
                  <a:pt x="1824255" y="1152525"/>
                  <a:pt x="1771650" y="1152525"/>
                </a:cubicBezTo>
                <a:lnTo>
                  <a:pt x="95250" y="1152525"/>
                </a:lnTo>
                <a:cubicBezTo>
                  <a:pt x="42645" y="1152525"/>
                  <a:pt x="0" y="1109880"/>
                  <a:pt x="0" y="1057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A">
              <a:alpha val="100000"/>
            </a:srgbClr>
          </a:solidFill>
          <a:ln w="14288" cap="rnd">
            <a:solidFill>
              <a:srgbClr val="3F6695">
                <a:alpha val="100000"/>
              </a:srgbClr>
            </a:solidFill>
            <a:prstDash val="solid"/>
            <a:round/>
          </a:ln>
        </p:spPr>
      </p:sp>
      <p:sp>
        <p:nvSpPr>
          <p:cNvPr id="27" name="node-head-label" descr="source_id=node-head-label">
            <a:extLst>
              <a:ext uri="{FF2B5EF4-FFF2-40B4-BE49-F238E27FC236}">
                <a16:creationId id="{3D5C0D90-82EB-468E-BB01-F3BA0A9B2FB2}"/>
              </a:ext>
            </a:extLst>
          </p:cNvPr>
          <p:cNvSpPr>
            <a:spLocks noGrp="1"/>
          </p:cNvSpPr>
          <p:nvPr/>
        </p:nvSpPr>
        <p:spPr>
          <a:xfrm rot="0">
            <a:off x="9220200" y="1557338"/>
            <a:ext cx="1562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 head</a:t>
            </a:r>
          </a:p>
        </p:txBody>
      </p:sp>
      <p:sp>
        <p:nvSpPr>
          <p:cNvPr id="28" name="node-predictions" descr="source_id=node-predictions">
            <a:extLst>
              <a:ext uri="{FF2B5EF4-FFF2-40B4-BE49-F238E27FC236}">
                <a16:creationId id="{07BAF03F-9A72-4412-8AA7-D64F168184EE}"/>
              </a:ext>
            </a:extLst>
          </p:cNvPr>
          <p:cNvSpPr>
            <a:spLocks noGrp="1"/>
          </p:cNvSpPr>
          <p:nvPr/>
        </p:nvSpPr>
        <p:spPr>
          <a:xfrm rot="0">
            <a:off x="11887200" y="1257300"/>
            <a:ext cx="1866900" cy="1152525"/>
          </a:xfrm>
          <a:custGeom>
            <a:pathLst>
              <a:path w="1866900" h="1152525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057275"/>
                </a:lnTo>
                <a:cubicBezTo>
                  <a:pt x="1866900" y="1109880"/>
                  <a:pt x="1824255" y="1152525"/>
                  <a:pt x="1771650" y="1152525"/>
                </a:cubicBezTo>
                <a:lnTo>
                  <a:pt x="95250" y="1152525"/>
                </a:lnTo>
                <a:cubicBezTo>
                  <a:pt x="42645" y="1152525"/>
                  <a:pt x="0" y="1109880"/>
                  <a:pt x="0" y="1057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2EFF9">
              <a:alpha val="100000"/>
            </a:srgbClr>
          </a:solidFill>
          <a:ln w="14288" cap="rnd">
            <a:solidFill>
              <a:srgbClr val="79649B">
                <a:alpha val="100000"/>
              </a:srgbClr>
            </a:solidFill>
            <a:prstDash val="solid"/>
            <a:round/>
          </a:ln>
        </p:spPr>
      </p:sp>
      <p:sp>
        <p:nvSpPr>
          <p:cNvPr id="29" name="node-predictions-label" descr="source_id=node-predictions-label">
            <a:extLst>
              <a:ext uri="{FF2B5EF4-FFF2-40B4-BE49-F238E27FC236}">
                <a16:creationId id="{0A9FEF57-8F7C-4860-ABB9-C523A20C4136}"/>
              </a:ext>
            </a:extLst>
          </p:cNvPr>
          <p:cNvSpPr>
            <a:spLocks noGrp="1"/>
          </p:cNvSpPr>
          <p:nvPr/>
        </p:nvSpPr>
        <p:spPr>
          <a:xfrm rot="0">
            <a:off x="12039600" y="1695450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30" name="node-targets" descr="source_id=node-targets">
            <a:extLst>
              <a:ext uri="{FF2B5EF4-FFF2-40B4-BE49-F238E27FC236}">
                <a16:creationId id="{F9F7043E-90B5-496D-BAAD-49EBFC0870C7}"/>
              </a:ext>
            </a:extLst>
          </p:cNvPr>
          <p:cNvSpPr>
            <a:spLocks noGrp="1"/>
          </p:cNvSpPr>
          <p:nvPr/>
        </p:nvSpPr>
        <p:spPr>
          <a:xfrm rot="0">
            <a:off x="6248400" y="3457575"/>
            <a:ext cx="1866900" cy="1152525"/>
          </a:xfrm>
          <a:custGeom>
            <a:pathLst>
              <a:path w="1866900" h="1152525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057275"/>
                </a:lnTo>
                <a:cubicBezTo>
                  <a:pt x="1866900" y="1109880"/>
                  <a:pt x="1824255" y="1152525"/>
                  <a:pt x="1771650" y="1152525"/>
                </a:cubicBezTo>
                <a:lnTo>
                  <a:pt x="95250" y="1152525"/>
                </a:lnTo>
                <a:cubicBezTo>
                  <a:pt x="42645" y="1152525"/>
                  <a:pt x="0" y="1109880"/>
                  <a:pt x="0" y="1057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2F4F7">
              <a:alpha val="100000"/>
            </a:srgbClr>
          </a:solidFill>
          <a:ln w="14288" cap="rnd">
            <a:solidFill>
              <a:srgbClr val="667085">
                <a:alpha val="100000"/>
              </a:srgbClr>
            </a:solidFill>
            <a:prstDash val="solid"/>
            <a:round/>
          </a:ln>
        </p:spPr>
      </p:sp>
      <p:sp>
        <p:nvSpPr>
          <p:cNvPr id="31" name="node-targets-label" descr="source_id=node-targets-label">
            <a:extLst>
              <a:ext uri="{FF2B5EF4-FFF2-40B4-BE49-F238E27FC236}">
                <a16:creationId id="{446FE187-25DE-499B-874B-0944754E7318}"/>
              </a:ext>
            </a:extLst>
          </p:cNvPr>
          <p:cNvSpPr>
            <a:spLocks noGrp="1"/>
          </p:cNvSpPr>
          <p:nvPr/>
        </p:nvSpPr>
        <p:spPr>
          <a:xfrm rot="0">
            <a:off x="6400800" y="3895725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32" name="node-objective" descr="source_id=node-objective">
            <a:extLst>
              <a:ext uri="{FF2B5EF4-FFF2-40B4-BE49-F238E27FC236}">
                <a16:creationId id="{6133D5D4-FA43-4283-AEA4-A4E73CBF138D}"/>
              </a:ext>
            </a:extLst>
          </p:cNvPr>
          <p:cNvSpPr>
            <a:spLocks noGrp="1"/>
          </p:cNvSpPr>
          <p:nvPr/>
        </p:nvSpPr>
        <p:spPr>
          <a:xfrm rot="0">
            <a:off x="9067800" y="3457575"/>
            <a:ext cx="1866900" cy="1152525"/>
          </a:xfrm>
          <a:custGeom>
            <a:pathLst>
              <a:path w="1866900" h="1152525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057275"/>
                </a:lnTo>
                <a:cubicBezTo>
                  <a:pt x="1866900" y="1109880"/>
                  <a:pt x="1824255" y="1152525"/>
                  <a:pt x="1771650" y="1152525"/>
                </a:cubicBezTo>
                <a:lnTo>
                  <a:pt x="95250" y="1152525"/>
                </a:lnTo>
                <a:cubicBezTo>
                  <a:pt x="42645" y="1152525"/>
                  <a:pt x="0" y="1109880"/>
                  <a:pt x="0" y="1057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CF1E7">
              <a:alpha val="100000"/>
            </a:srgbClr>
          </a:solidFill>
          <a:ln w="14288" cap="rnd">
            <a:solidFill>
              <a:srgbClr val="A37242">
                <a:alpha val="100000"/>
              </a:srgbClr>
            </a:solidFill>
            <a:prstDash val="solid"/>
            <a:round/>
          </a:ln>
        </p:spPr>
      </p:sp>
      <p:sp>
        <p:nvSpPr>
          <p:cNvPr id="33" name="node-objective-label" descr="source_id=node-objective-label">
            <a:extLst>
              <a:ext uri="{FF2B5EF4-FFF2-40B4-BE49-F238E27FC236}">
                <a16:creationId id="{D0B80D8C-418C-408D-A6A6-A603BED02769}"/>
              </a:ext>
            </a:extLst>
          </p:cNvPr>
          <p:cNvSpPr>
            <a:spLocks noGrp="1"/>
          </p:cNvSpPr>
          <p:nvPr/>
        </p:nvSpPr>
        <p:spPr>
          <a:xfrm rot="0">
            <a:off x="9220200" y="3724275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34" name="node-objective-detail" descr="source_id=node-objective-detail">
            <a:extLst>
              <a:ext uri="{FF2B5EF4-FFF2-40B4-BE49-F238E27FC236}">
                <a16:creationId id="{78830972-7EB7-48C9-B584-F4DF0FD27367}"/>
              </a:ext>
            </a:extLst>
          </p:cNvPr>
          <p:cNvSpPr>
            <a:spLocks noGrp="1"/>
          </p:cNvSpPr>
          <p:nvPr/>
        </p:nvSpPr>
        <p:spPr>
          <a:xfrm rot="0">
            <a:off x="9220200" y="4114800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Supervised loss</a:t>
            </a:r>
          </a:p>
        </p:txBody>
      </p:sp>
      <p:sp>
        <p:nvSpPr>
          <p:cNvPr id="35" name="figure-title" descr="source_id=figure-title">
            <a:extLst>
              <a:ext uri="{FF2B5EF4-FFF2-40B4-BE49-F238E27FC236}">
                <a16:creationId id="{8DACEF97-D619-4319-AE89-E0F6C872AC36}"/>
              </a:ext>
            </a:extLst>
          </p:cNvPr>
          <p:cNvSpPr>
            <a:spLocks noGrp="1"/>
          </p:cNvSpPr>
          <p:nvPr/>
        </p:nvSpPr>
        <p:spPr>
          <a:xfrm rot="0">
            <a:off x="609600" y="209550"/>
            <a:ext cx="1314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3100" rIns="0" bIns="23100" anchor="ctr">
            <a:noAutofit/>
          </a:bodyPr>
          <a:lstStyle/>
          <a:p>
            <a:pPr algn="l">
              <a:lnSpc>
                <a:spcPct val="108333"/>
              </a:lnSpc>
              <a:defRPr sz="19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Forward computation and training feedback</a:t>
            </a:r>
          </a:p>
        </p:txBody>
      </p:sp>
      <p:sp>
        <p:nvSpPr>
          <p:cNvPr id="36" name="figure-caption" descr="source_id=figure-caption">
            <a:extLst>
              <a:ext uri="{FF2B5EF4-FFF2-40B4-BE49-F238E27FC236}">
                <a16:creationId id="{B490C86A-3FCA-4A1F-BC7D-4478B91CBDA8}"/>
              </a:ext>
            </a:extLst>
          </p:cNvPr>
          <p:cNvSpPr>
            <a:spLocks noGrp="1"/>
          </p:cNvSpPr>
          <p:nvPr/>
        </p:nvSpPr>
        <p:spPr>
          <a:xfrm rot="0">
            <a:off x="609600" y="5086350"/>
            <a:ext cx="13144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017" rIns="0" bIns="12017" anchor="ctr">
            <a:noAutofit/>
          </a:bodyPr>
          <a:lstStyle/>
          <a:p>
            <a:pPr algn="l">
              <a:lnSpc>
                <a:spcPct val="108333"/>
              </a:lnSpc>
              <a:defRPr sz="120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Illustrative architecture. Solid: forward data flow. Orange dashed: objective inputs. Gray dashed: encoder parameter update during training.</a:t>
            </a:r>
          </a:p>
        </p:txBody>
      </p:sp>
    </p:spTree>
    <p:extLst>
      <p:ext uri="{BB962C8B-B14F-4D97-AF65-F5344CB8AC3E}">
        <p14:creationId val="1614880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2026-10-05T05:07:18.3920000Z</dcterms:created>
  <dcterms:modified xsi:type="dcterms:W3CDTF">2026-10-05T05:07:18.3920000Z</dcterms:modified>
</coreProperties>
</file>